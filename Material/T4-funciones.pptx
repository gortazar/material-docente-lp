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0080625" cy="56705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1" Type="http://schemas.openxmlformats.org/officeDocument/2006/relationships/theme" Target="theme/theme1.xml" /><Relationship Id="rId2" Type="http://schemas.openxmlformats.org/officeDocument/2006/relationships/slideMaster" Target="slideMasters/slideMaster1.xml" /><Relationship Id="rId3" Type="http://schemas.openxmlformats.org/officeDocument/2006/relationships/slideMaster" Target="slideMasters/slideMaster2.xml" /><Relationship Id="rId4" Type="http://schemas.openxmlformats.org/officeDocument/2006/relationships/slideMaster" Target="slideMasters/slideMaster3.xml" /><Relationship Id="rId21" Type="http://schemas.openxmlformats.org/officeDocument/2006/relationships/presProps" Target="presProps.xml" 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endParaRPr lang="es-ES" sz="4000" b="1" u="none" strike="noStrike">
              <a:solidFill>
                <a:srgbClr val="c9211e"/>
              </a:solidFill>
              <a:effectLst/>
              <a:uFillTx/>
              <a:latin typeface="Robot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3640" y="1433160"/>
            <a:ext cx="9071280" cy="375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Aft>
                <a:spcPts val="1080"/>
              </a:spcAft>
              <a:buNone/>
            </a:pPr>
            <a:endParaRPr lang="es-ES" sz="3200" b="0" u="none" strike="noStrike">
              <a:solidFill>
                <a:srgbClr val="4c4c4c"/>
              </a:solidFill>
              <a:effectLst/>
              <a:uFillTx/>
              <a:latin typeface="Robot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endParaRPr lang="es-ES" sz="4000" b="1" u="none" strike="noStrike">
              <a:solidFill>
                <a:srgbClr val="c9211e"/>
              </a:solidFill>
              <a:effectLst/>
              <a:uFillTx/>
              <a:latin typeface="Roboto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3640" y="1433160"/>
            <a:ext cx="9071280" cy="375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Aft>
                <a:spcPts val="1080"/>
              </a:spcAft>
              <a:buNone/>
            </a:pPr>
            <a:endParaRPr lang="es-ES" sz="3200" b="0" u="none" strike="noStrike">
              <a:solidFill>
                <a:srgbClr val="4c4c4c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theme/theme1.xml" Type="http://schemas.openxmlformats.org/officeDocument/2006/relationships/theme" /><Relationship Id="rId2" Target="../media/image1.png" Type="http://schemas.openxmlformats.org/officeDocument/2006/relationships/image" /><Relationship Id="rId3" Target="../slideLayouts/slideLayout1.xml" Type="http://schemas.openxmlformats.org/officeDocument/2006/relationships/slideLayout" />
<Relationship Id="rId8" Type="http://schemas.openxmlformats.org/officeDocument/2006/relationships/slideLayout" Target="../slideLayouts/slideLayout3.xml" /><Relationship Id="rId7" Type="http://schemas.openxmlformats.org/officeDocument/2006/relationships/slideLayout" Target="../slideLayouts/slideLayout4.xml" /><Relationship Id="rId6" Type="http://schemas.openxmlformats.org/officeDocument/2006/relationships/slideLayout" Target="../slideLayouts/slideLayout5.xml" /><Relationship Id="rId5" Type="http://schemas.openxmlformats.org/officeDocument/2006/relationships/slideLayout" Target="../slideLayouts/slideLayout8.xml" /><Relationship Id="rId4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 anchor="b" bIns="0" lIns="0" rIns="0" tIns="0">
            <a:noAutofit/>
          </a:bodyPr>
          <a:p>
            <a:pPr indent="0">
              <a:buNone/>
            </a:pPr>
            <a:r>
              <a:rPr b="1" lang="es-ES" strike="noStrike" sz="4000" u="none">
                <a:solidFill>
                  <a:srgbClr val="c00000"/>
                </a:solidFill>
                <a:effectLst/>
                <a:uFillTx/>
                <a:latin typeface="Corbel"/>
              </a:rPr>
              <a:t>Click to edit the title text format</a:t>
            </a:r>
            <a:endParaRPr b="1" lang="es-ES" strike="noStrike" sz="4000" u="none">
              <a:solidFill>
                <a:srgbClr val="c9211e"/>
              </a:solidFill>
              <a:effectLst/>
              <a:uFillTx/>
              <a:latin typeface="Robot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433160"/>
            <a:ext cx="9071280" cy="375084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216000" marL="216000">
              <a:lnSpc>
                <a:spcPct val="115000"/>
              </a:lnSpc>
              <a:spcAft>
                <a:spcPts val="1080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2800" u="none">
                <a:solidFill>
                  <a:srgbClr val="4c4c4c"/>
                </a:solidFill>
                <a:effectLst/>
                <a:uFillTx/>
                <a:latin typeface="Roboto"/>
              </a:rPr>
              <a:t>Click to edit the outline text format</a:t>
            </a:r>
            <a:endParaRPr b="0" lang="es-ES" strike="noStrike" sz="2800" u="none">
              <a:solidFill>
                <a:srgbClr val="4c4c4c"/>
              </a:solidFill>
              <a:effectLst/>
              <a:uFillTx/>
              <a:latin typeface="Roboto"/>
            </a:endParaRPr>
          </a:p>
          <a:p>
            <a:pPr indent="-216000" lvl="1" marL="432000">
              <a:lnSpc>
                <a:spcPct val="115000"/>
              </a:lnSpc>
              <a:spcAft>
                <a:spcPts val="836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2200" u="none">
                <a:solidFill>
                  <a:srgbClr val="4c4c4c"/>
                </a:solidFill>
                <a:effectLst/>
                <a:uFillTx/>
                <a:latin typeface="Roboto"/>
              </a:rPr>
              <a:t>Second Outline Level</a:t>
            </a:r>
            <a:endParaRPr b="0" lang="es-ES" strike="noStrike" sz="2200" u="none">
              <a:solidFill>
                <a:srgbClr val="4c4c4c"/>
              </a:solidFill>
              <a:effectLst/>
              <a:uFillTx/>
              <a:latin typeface="Roboto"/>
            </a:endParaRPr>
          </a:p>
          <a:p>
            <a:pPr indent="-216000" lvl="2" marL="648000">
              <a:lnSpc>
                <a:spcPct val="115000"/>
              </a:lnSpc>
              <a:spcAft>
                <a:spcPts val="621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2000" u="none">
                <a:solidFill>
                  <a:srgbClr val="669933"/>
                </a:solidFill>
                <a:effectLst/>
                <a:uFillTx/>
                <a:latin typeface="Roboto"/>
              </a:rPr>
              <a:t>Third Outline Level</a:t>
            </a:r>
            <a:endParaRPr b="0" lang="es-ES" strike="noStrike" sz="2000" u="none">
              <a:solidFill>
                <a:srgbClr val="669933"/>
              </a:solidFill>
              <a:effectLst/>
              <a:uFillTx/>
              <a:latin typeface="Roboto"/>
            </a:endParaRPr>
          </a:p>
          <a:p>
            <a:pPr indent="-216000" lvl="3" marL="864000">
              <a:lnSpc>
                <a:spcPct val="115000"/>
              </a:lnSpc>
              <a:spcAft>
                <a:spcPts val="411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1800" u="none">
                <a:solidFill>
                  <a:srgbClr val="4c4c4c"/>
                </a:solidFill>
                <a:effectLst/>
                <a:uFillTx/>
                <a:latin typeface="Roboto"/>
              </a:rPr>
              <a:t>Fourth Outline Level</a:t>
            </a:r>
            <a:endParaRPr b="0" lang="es-ES" strike="noStrike" sz="1800" u="none">
              <a:solidFill>
                <a:srgbClr val="4c4c4c"/>
              </a:solidFill>
              <a:effectLst/>
              <a:uFillTx/>
              <a:latin typeface="Roboto"/>
            </a:endParaRPr>
          </a:p>
          <a:p>
            <a:pPr indent="-216000" lvl="4" marL="1080000">
              <a:lnSpc>
                <a:spcPct val="115000"/>
              </a:lnSpc>
              <a:spcAft>
                <a:spcPts val="198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1800" u="none">
                <a:solidFill>
                  <a:srgbClr val="4c4c4c"/>
                </a:solidFill>
                <a:effectLst/>
                <a:uFillTx/>
                <a:latin typeface="Roboto"/>
              </a:rPr>
              <a:t>Fifth Outline Level</a:t>
            </a:r>
            <a:endParaRPr b="0" lang="es-ES" strike="noStrike" sz="1800" u="none">
              <a:solidFill>
                <a:srgbClr val="4c4c4c"/>
              </a:solidFill>
              <a:effectLst/>
              <a:uFillTx/>
              <a:latin typeface="Roboto"/>
            </a:endParaRPr>
          </a:p>
          <a:p>
            <a:pPr indent="-216000" lvl="5" marL="1296000">
              <a:lnSpc>
                <a:spcPct val="115000"/>
              </a:lnSpc>
              <a:spcAft>
                <a:spcPts val="198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1800" u="none">
                <a:solidFill>
                  <a:srgbClr val="4c4c4c"/>
                </a:solidFill>
                <a:effectLst/>
                <a:uFillTx/>
                <a:latin typeface="Roboto"/>
              </a:rPr>
              <a:t>Sixth Outline Level</a:t>
            </a:r>
            <a:endParaRPr b="0" lang="es-ES" strike="noStrike" sz="1800" u="none">
              <a:solidFill>
                <a:srgbClr val="4c4c4c"/>
              </a:solidFill>
              <a:effectLst/>
              <a:uFillTx/>
              <a:latin typeface="Roboto"/>
            </a:endParaRPr>
          </a:p>
          <a:p>
            <a:pPr indent="-216000" lvl="6" marL="1512000">
              <a:lnSpc>
                <a:spcPct val="115000"/>
              </a:lnSpc>
              <a:spcAft>
                <a:spcPts val="198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s-ES" strike="noStrike" sz="1800" u="none">
                <a:solidFill>
                  <a:srgbClr val="4c4c4c"/>
                </a:solidFill>
                <a:effectLst/>
                <a:uFillTx/>
                <a:latin typeface="Roboto"/>
              </a:rPr>
              <a:t>Seventh Outline Level</a:t>
            </a:r>
            <a:endParaRPr b="0" lang="es-ES" strike="noStrike" sz="1800" u="none">
              <a:solidFill>
                <a:srgbClr val="4c4c4c"/>
              </a:solidFill>
              <a:effectLst/>
              <a:uFillTx/>
              <a:latin typeface="Robot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idx="1" type="dt"/>
          </p:nvPr>
        </p:nvSpPr>
        <p:spPr>
          <a:xfrm>
            <a:off x="503640" y="5272200"/>
            <a:ext cx="2348280" cy="3913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Autofit/>
          </a:bodyPr>
          <a:lstStyle>
            <a:lvl1pPr indent="0">
              <a:buNone/>
              <a:defRPr b="0" lang="es-ES" strike="noStrike" sz="1400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trike="noStrike" sz="1400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trike="noStrike" sz="1400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idx="2" type="ftr"/>
          </p:nvPr>
        </p:nvSpPr>
        <p:spPr>
          <a:xfrm>
            <a:off x="3446280" y="5308200"/>
            <a:ext cx="3195000" cy="3913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Autofit/>
          </a:bodyPr>
          <a:lstStyle>
            <a:lvl1pPr algn="ctr" indent="0">
              <a:buNone/>
              <a:defRPr b="0" lang="es-ES" strike="noStrike" sz="1400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algn="ctr" indent="0">
              <a:buNone/>
            </a:pPr>
            <a:r>
              <a:rPr b="0" lang="es-ES" strike="noStrike" sz="1400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trike="noStrike" sz="1400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32 Rectángulo"/>
          <p:cNvSpPr/>
          <p:nvPr/>
        </p:nvSpPr>
        <p:spPr>
          <a:xfrm flipV="1">
            <a:off x="720" y="-21960"/>
            <a:ext cx="10079280" cy="125640"/>
          </a:xfrm>
          <a:prstGeom prst="rect">
            <a:avLst/>
          </a:prstGeom>
          <a:solidFill>
            <a:srgbClr val="cb0017"/>
          </a:solidFill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" strike="noStrike" sz="1800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"/>
          <p:cNvPicPr/>
          <p:nvPr/>
        </p:nvPicPr>
        <p:blipFill>
          <a:blip r:embed="rId2"/>
          <a:stretch/>
        </p:blipFill>
        <p:spPr>
          <a:xfrm>
            <a:off x="9060840" y="179640"/>
            <a:ext cx="874080" cy="87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8640000" y="52200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 wrap="none">
            <a:spAutoFit/>
          </a:bodyPr>
          <a:p>
            <a:pPr algn="r"/>
            <a:fld id="{C4F965AE-27BD-4D47-BF7E-78634FB1F6E6}" type="slidenum">
              <a:rPr b="0" lang="es-ES" strike="noStrike" sz="1600" u="none">
                <a:solidFill>
                  <a:srgbClr val="4c4c4c"/>
                </a:solidFill>
                <a:effectLst/>
                <a:uFillTx/>
                <a:latin typeface="Corbel"/>
              </a:rPr>
              <a:t>&lt;número&gt;</a:t>
            </a:fld>
            <a:endParaRPr b="0" lang="es-ES" strike="noStrike" sz="1600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3"/>
    <p:sldLayoutId id="2147483654" r:id="rId8"/>
    <p:sldLayoutId id="2147483653" r:id="rId7"/>
    <p:sldLayoutId id="2147483652" r:id="rId6"/>
    <p:sldLayoutId id="2147483651" r:id="rId5"/>
    <p:sldLayoutId id="2147483650" r:id="rId4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Funciones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Definición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Sintaxis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my_function(arg1, arg2, arg3):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Código de la función</a:t>
            </a:r>
          </a:p>
          <a:p>
            <a:pPr lvl="0"/>
            <a:r>
              <a:rPr>
                <a:latin typeface="Courier"/>
              </a:rPr>
              <a:t>arg1</a:t>
            </a:r>
            <a:r>
              <a:rPr/>
              <a:t>, </a:t>
            </a:r>
            <a:r>
              <a:rPr>
                <a:latin typeface="Courier"/>
              </a:rPr>
              <a:t>arg2</a:t>
            </a:r>
            <a:r>
              <a:rPr/>
              <a:t> y </a:t>
            </a:r>
            <a:r>
              <a:rPr>
                <a:latin typeface="Courier"/>
              </a:rPr>
              <a:t>arg3</a:t>
            </a:r>
            <a:r>
              <a:rPr/>
              <a:t> son </a:t>
            </a:r>
            <a:r>
              <a:rPr b="1"/>
              <a:t>parámetros</a:t>
            </a:r>
            <a:r>
              <a:rPr/>
              <a:t> de la función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Definición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Ejemplo: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fibonacci(num_terminos):</a:t>
            </a:r>
            <a:br/>
            <a:r>
              <a:rPr>
                <a:latin typeface="Courier"/>
              </a:rPr>
              <a:t>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num_terminos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(a)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num_terminos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Llamado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Sintaxis</a:t>
            </a:r>
          </a:p>
          <a:p>
            <a:pPr lvl="0" indent="0">
              <a:buNone/>
            </a:pPr>
            <a:r>
              <a:rPr>
                <a:latin typeface="Courier"/>
              </a:rPr>
              <a:t>my_function(arg1, arg2, arg3)</a:t>
            </a:r>
          </a:p>
          <a:p>
            <a:pPr lvl="0"/>
            <a:r>
              <a:rPr>
                <a:latin typeface="Courier"/>
              </a:rPr>
              <a:t>arg1</a:t>
            </a:r>
            <a:r>
              <a:rPr/>
              <a:t>, </a:t>
            </a:r>
            <a:r>
              <a:rPr>
                <a:latin typeface="Courier"/>
              </a:rPr>
              <a:t>arg2</a:t>
            </a:r>
            <a:r>
              <a:rPr/>
              <a:t> y </a:t>
            </a:r>
            <a:r>
              <a:rPr>
                <a:latin typeface="Courier"/>
              </a:rPr>
              <a:t>arg3</a:t>
            </a:r>
            <a:r>
              <a:rPr/>
              <a:t> son </a:t>
            </a:r>
            <a:r>
              <a:rPr b="1"/>
              <a:t>argumentos</a:t>
            </a:r>
            <a:r>
              <a:rPr/>
              <a:t> posicionales de la función</a:t>
            </a:r>
          </a:p>
          <a:p>
            <a:pPr lvl="1"/>
            <a:r>
              <a:rPr/>
              <a:t>A qué parámetro se asigna cada uno depende de su posición</a:t>
            </a:r>
          </a:p>
          <a:p>
            <a:pPr lvl="0"/>
            <a:r>
              <a:rPr/>
              <a:t>Ejemplo:</a:t>
            </a:r>
          </a:p>
          <a:p>
            <a:pPr lvl="0" indent="0">
              <a:buNone/>
            </a:pPr>
            <a:r>
              <a:rPr>
                <a:latin typeface="Courier"/>
              </a:rPr>
              <a:t>fibonacci(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Retorno de Valores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Sintaxis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my_function(arg1, arg2):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arg1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arg2</a:t>
            </a:r>
          </a:p>
          <a:p>
            <a:pPr lvl="0"/>
            <a:r>
              <a:rPr/>
              <a:t>Ejemplo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fibonacci(num_terminos):</a:t>
            </a:r>
            <a:br/>
            <a:r>
              <a:rPr>
                <a:latin typeface="Courier"/>
              </a:rPr>
              <a:t>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num_terminos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num_terminos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</a:t>
            </a:r>
          </a:p>
          <a:p>
            <a:pPr lvl="0"/>
            <a:r>
              <a:rPr/>
              <a:t>Llamada</a:t>
            </a:r>
          </a:p>
          <a:p>
            <a:pPr lvl="0" indent="0">
              <a:buNone/>
            </a:pPr>
            <a:r>
              <a:rPr>
                <a:latin typeface="Courier"/>
              </a:rPr>
              <a:t>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fibonacci(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(value)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Retorno de valores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Podemos devolver múltiples valores: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minmax(a, b):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b: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a, b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b, a</a:t>
            </a:r>
          </a:p>
          <a:p>
            <a:pPr lvl="0"/>
            <a:r>
              <a:rPr/>
              <a:t>Uso: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minmax(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Argumentos nombrados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Se pueden pasar argumentos a una función indicando el nombre del parámetro al que se asignan</a:t>
            </a:r>
          </a:p>
          <a:p>
            <a:pPr lvl="0"/>
            <a:r>
              <a:rPr/>
              <a:t>Flexibilidad: el orden de los argumentos no importa</a:t>
            </a:r>
          </a:p>
          <a:p>
            <a:pPr lvl="0"/>
            <a:r>
              <a:rPr/>
              <a:t>Claridad: permite saber exactamente qué valor corresponde a cada parámetro en la definición</a:t>
            </a:r>
          </a:p>
          <a:p>
            <a:pPr lvl="0" indent="0">
              <a:buNone/>
            </a:pPr>
            <a:r>
              <a:rPr>
                <a:latin typeface="Courier"/>
              </a:rPr>
              <a:t>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fibonacci(num_terminos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(value)</a:t>
            </a:r>
          </a:p>
          <a:p>
            <a:pPr lvl="0"/>
            <a:r>
              <a:rPr>
                <a:latin typeface="Courier"/>
              </a:rPr>
              <a:t>num_terminos</a:t>
            </a:r>
            <a:r>
              <a:rPr/>
              <a:t> es un argumento nombrado: se especifica a qué parámetro de la función se asigna el valor </a:t>
            </a:r>
            <a:r>
              <a:rPr>
                <a:latin typeface="Courier"/>
              </a:rPr>
              <a:t>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Argumentos nombrados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Son mucho más claros en contextos donde no sabemos en qué orden suministrar los argumentos:</a:t>
            </a:r>
          </a:p>
          <a:p>
            <a:pPr lvl="0" indent="0">
              <a:buNone/>
            </a:pPr>
            <a:r>
              <a:rPr>
                <a:latin typeface="Courier"/>
              </a:rPr>
              <a:t>generate(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</a:p>
          <a:p>
            <a:pPr lvl="0"/>
            <a:r>
              <a:rPr/>
              <a:t>¿Qué hace el primer </a:t>
            </a:r>
            <a:r>
              <a:rPr>
                <a:latin typeface="Courier"/>
              </a:rPr>
              <a:t>True</a:t>
            </a:r>
            <a:r>
              <a:rPr/>
              <a:t>? ¿Y el segundo </a:t>
            </a:r>
            <a:r>
              <a:rPr>
                <a:latin typeface="Courier"/>
              </a:rPr>
              <a:t>False</a:t>
            </a:r>
            <a:r>
              <a:rPr/>
              <a:t>?</a:t>
            </a:r>
          </a:p>
          <a:p>
            <a:pPr lvl="0"/>
            <a:r>
              <a:rPr/>
              <a:t>Usando argumentos nombrados se clarifica el código:</a:t>
            </a:r>
          </a:p>
          <a:p>
            <a:pPr lvl="0" indent="0">
              <a:buNone/>
            </a:pPr>
            <a:r>
              <a:rPr>
                <a:latin typeface="Courier"/>
              </a:rPr>
              <a:t>generate(createFileIfNotExists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overwrite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Parámetros por defecto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Es posible asignar un valor predeterminado a un parámetro</a:t>
            </a:r>
          </a:p>
          <a:p>
            <a:pPr lvl="0"/>
            <a:r>
              <a:rPr/>
              <a:t>Los parámetros con valores por defecto deben ir al final de la lista de argumentos de la definición de la función para que los argumentos posicionales sigan funcionando</a:t>
            </a:r>
          </a:p>
          <a:p>
            <a:pPr lvl="0"/>
            <a:r>
              <a:rPr/>
              <a:t>Si al llamar a la función se omite el argumento, se usa el valor por defecto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Parámetros por defecto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Ejemplo: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fibonacci(num_terminos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num_terminos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num_terminos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</a:t>
            </a:r>
          </a:p>
          <a:p>
            <a:pPr lvl="0"/>
            <a:r>
              <a:rPr/>
              <a:t>El valor de </a:t>
            </a:r>
            <a:r>
              <a:rPr>
                <a:latin typeface="Courier"/>
              </a:rPr>
              <a:t>num_terminos</a:t>
            </a:r>
            <a:r>
              <a:rPr/>
              <a:t> será </a:t>
            </a:r>
            <a:r>
              <a:rPr>
                <a:latin typeface="Courier"/>
              </a:rPr>
              <a:t>10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fibonacci()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(value)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Parámetros por defecto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Ejemplo incorrecto: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fibonacci(num_terminos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init_termino):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Código...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Parámetros opcionales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Para que un argumento sea opcional, se le suele asignar el valor especial None por defecto en la definición</a:t>
            </a:r>
          </a:p>
          <a:p>
            <a:pPr lvl="0"/>
            <a:r>
              <a:rPr/>
              <a:t>En el cuerpo de la función, se utiliza una estructura condicional (if) para comprobar si se proporcionó un valor o si el parámetro permanece como None</a:t>
            </a:r>
          </a:p>
          <a:p>
            <a:pPr lvl="0"/>
            <a:r>
              <a:rPr/>
              <a:t>Útil cuando se desea que una función maneje información extra solo si el usuario decide enviarla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Parámetros opcionales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Ejemplo: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fibonacci(num_terminos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En realidad se podría hacer con un parámetro por defecto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num_terminos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 </a:t>
            </a:r>
            <a:br/>
            <a:r>
              <a:rPr>
                <a:latin typeface="Courier"/>
              </a:rPr>
              <a:t>        num_terminos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r>
              <a:rPr>
                <a:latin typeface="Courier"/>
              </a:rPr>
              <a:t>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num_terminos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    num_terminos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</a:t>
            </a:r>
          </a:p>
          <a:p>
            <a:pPr lvl="0" indent="0">
              <a:buNone/>
            </a:pPr>
            <a:r>
              <a:rPr>
                <a:latin typeface="Courier"/>
              </a:rPr>
              <a:t>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fibonacci()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(value)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Paso de funciones a funciones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Las funciones son ciudadanos de primer orden</a:t>
            </a:r>
          </a:p>
          <a:p>
            <a:pPr lvl="1"/>
            <a:r>
              <a:rPr/>
              <a:t>Pueden pasarse como argumentos</a:t>
            </a:r>
          </a:p>
          <a:p>
            <a:pPr lvl="1"/>
            <a:r>
              <a:rPr/>
              <a:t>Pueden asignarse a variables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starts_with_a(w):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w.startswith(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li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"apple"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"banana"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"avocado"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"cherry"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"apricot"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(starts_a, li)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(res))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53720"/>
            <a:ext cx="8496000" cy="864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Funciones lambda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Son funciones anónimas y se definen con la palabra clave lambda</a:t>
            </a:r>
          </a:p>
          <a:p>
            <a:pPr lvl="0"/>
            <a:r>
              <a:rPr/>
              <a:t>Restricción</a:t>
            </a:r>
          </a:p>
          <a:p>
            <a:pPr lvl="1"/>
            <a:r>
              <a:rPr/>
              <a:t>Están limitadas a contener una única expresión en lugar de múltiples sentencias de código</a:t>
            </a:r>
          </a:p>
          <a:p>
            <a:pPr lvl="0"/>
            <a:r>
              <a:rPr/>
              <a:t>Uso</a:t>
            </a:r>
          </a:p>
          <a:p>
            <a:pPr lvl="1"/>
            <a:r>
              <a:rPr/>
              <a:t>Se utilizan frecuentemente en programación funcional para operaciones rápidas que se pueden pasar como objetos a otras funciones</a:t>
            </a:r>
          </a:p>
          <a:p>
            <a:pPr lvl="0" indent="0">
              <a:buNone/>
            </a:pPr>
            <a:r>
              <a:rPr>
                <a:latin typeface="Courier"/>
              </a:rPr>
              <a:t>li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"apple"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"banana"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"avocado"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"cherry"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"apricot"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w: w.startswith(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), li)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(res))</a:t>
            </a:r>
          </a:p>
          <a:p>
            <a:pPr lvl="0" indent="0">
              <a:buNone/>
            </a:pPr>
            <a:r>
              <a:rPr>
                <a:latin typeface="Courier"/>
              </a:rPr>
              <a:t>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"apple"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"banana"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"avocado"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"cherry"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"apricot"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l.sort(key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w: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(w))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(l)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5526</TotalTime>
  <Application>LibreOffice/25.8.4.2$Linux_X86_64 LibreOffice_project/0366609b1de41a39e1896ae41e33c673f2a73802</Application>
  <AppVersion>15.0000</AppVersion>
  <Company>Windows uE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3 - Funciones en Python</dc:title>
  <dc:creator>Francisco Gortázar</dc:creator>
  <cp:keywords/>
  <dcterms:created xsi:type="dcterms:W3CDTF">2026-02-10T13:40:19Z</dcterms:created>
  <dcterms:modified xsi:type="dcterms:W3CDTF">2026-02-10T13:40:19Z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license">
    <vt:lpwstr/>
  </property>
  <property fmtid="{D5CDD505-2E9C-101B-9397-08002B2CF9AE}" pid="10" name="toc-title">
    <vt:lpwstr>Table of contents</vt:lpwstr>
  </property>
</Properties>
</file>